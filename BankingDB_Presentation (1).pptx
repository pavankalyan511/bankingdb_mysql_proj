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3BBC92C-EDB0-1801-CA20-139D23720337}">
          <p14:sldIdLst>
            <p14:sldId id="256"/>
            <p14:sldId id="257"/>
            <p14:sldId id="258"/>
          </p14:sldIdLst>
        </p14:section>
        <p14:section name="Design" id="{E3CFE943-89E2-B38A-4A7A-DB52CB051CEB}">
          <p14:sldIdLst>
            <p14:sldId id="259"/>
            <p14:sldId id="260"/>
          </p14:sldIdLst>
        </p14:section>
        <p14:section name="SQL Highlights" id="{EC4BBAF7-4F4E-165A-0EC6-A2CE15AFCA5B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e" id="{274CF0E8-C90E-8766-15D0-42C63824F4F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11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01752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2"/>
                </a:solidFill>
              </a:rPr>
              <a:t>SQL DATABASE PROJECT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Banking Database Management System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BankingDB</a:t>
            </a:r>
            <a:endParaRPr lang="en-US" sz="2000" dirty="0"/>
          </a:p>
        </p:txBody>
      </p:sp>
      <p:sp>
        <p:nvSpPr>
          <p:cNvPr id="5" name="Team heading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Team Members</a:t>
            </a:r>
            <a:endParaRPr lang="en-US" sz="1800" dirty="0"/>
          </a:p>
        </p:txBody>
      </p:sp>
      <p:sp>
        <p:nvSpPr>
          <p:cNvPr id="6" name="Name chip 1"/>
          <p:cNvSpPr/>
          <p:nvPr/>
        </p:nvSpPr>
        <p:spPr>
          <a:xfrm>
            <a:off x="731520" y="457200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7" name="Name 1"/>
          <p:cNvSpPr txBox="1"/>
          <p:nvPr/>
        </p:nvSpPr>
        <p:spPr>
          <a:xfrm>
            <a:off x="1508760" y="4544171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Ch . Pavan kalyan</a:t>
            </a:r>
            <a:endParaRPr lang="en-US" sz="1600" dirty="0"/>
          </a:p>
        </p:txBody>
      </p:sp>
      <p:sp>
        <p:nvSpPr>
          <p:cNvPr id="8" name="Name chip 2"/>
          <p:cNvSpPr/>
          <p:nvPr/>
        </p:nvSpPr>
        <p:spPr>
          <a:xfrm>
            <a:off x="4206240" y="457200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Name 2"/>
          <p:cNvSpPr txBox="1"/>
          <p:nvPr/>
        </p:nvSpPr>
        <p:spPr>
          <a:xfrm>
            <a:off x="4780722" y="4562061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T. Revanth Ram </a:t>
            </a:r>
            <a:r>
              <a:rPr lang="en-US" sz="1600" dirty="0" err="1">
                <a:solidFill>
                  <a:schemeClr val="bg1"/>
                </a:solidFill>
              </a:rPr>
              <a:t>kumar</a:t>
            </a:r>
            <a:endParaRPr lang="en-US" sz="1600" dirty="0"/>
          </a:p>
        </p:txBody>
      </p:sp>
      <p:sp>
        <p:nvSpPr>
          <p:cNvPr id="12" name="Name chip 4"/>
          <p:cNvSpPr/>
          <p:nvPr/>
        </p:nvSpPr>
        <p:spPr>
          <a:xfrm>
            <a:off x="2615979" y="53949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13" name="Name 4"/>
          <p:cNvSpPr txBox="1"/>
          <p:nvPr/>
        </p:nvSpPr>
        <p:spPr>
          <a:xfrm>
            <a:off x="3568148" y="5339301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B. </a:t>
            </a:r>
            <a:r>
              <a:rPr lang="en-US" sz="1600" dirty="0" err="1">
                <a:solidFill>
                  <a:schemeClr val="bg1"/>
                </a:solidFill>
              </a:rPr>
              <a:t>Praveeth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sai</a:t>
            </a:r>
            <a:endParaRPr lang="en-US" sz="1600" dirty="0"/>
          </a:p>
        </p:txBody>
      </p:sp>
      <p:sp>
        <p:nvSpPr>
          <p:cNvPr id="14" name="Ring"/>
          <p:cNvSpPr/>
          <p:nvPr/>
        </p:nvSpPr>
        <p:spPr>
          <a:xfrm>
            <a:off x="8138160" y="1371600"/>
            <a:ext cx="3657600" cy="3657600"/>
          </a:xfrm>
          <a:prstGeom prst="ellipse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15" name="Disc"/>
          <p:cNvSpPr/>
          <p:nvPr/>
        </p:nvSpPr>
        <p:spPr>
          <a:xfrm>
            <a:off x="8686800" y="1920240"/>
            <a:ext cx="2560320" cy="2560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0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5603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Statement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Banks need one reliable system to store customers, accounts and transactions.</a:t>
            </a:r>
            <a:endParaRPr lang="en-US" sz="2200" dirty="0"/>
          </a:p>
        </p:txBody>
      </p:sp>
      <p:sp>
        <p:nvSpPr>
          <p:cNvPr id="4" name="Problem card 1"/>
          <p:cNvSpPr/>
          <p:nvPr/>
        </p:nvSpPr>
        <p:spPr>
          <a:xfrm>
            <a:off x="548640" y="2468880"/>
            <a:ext cx="344728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cattered Records circle"/>
          <p:cNvSpPr/>
          <p:nvPr/>
        </p:nvSpPr>
        <p:spPr>
          <a:xfrm>
            <a:off x="1856232" y="2834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cattered Reco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61" y="3065069"/>
            <a:ext cx="362102" cy="362102"/>
          </a:xfrm>
          <a:prstGeom prst="rect">
            <a:avLst/>
          </a:prstGeom>
        </p:spPr>
      </p:pic>
      <p:sp>
        <p:nvSpPr>
          <p:cNvPr id="7" name="Problem head 1"/>
          <p:cNvSpPr txBox="1"/>
          <p:nvPr/>
        </p:nvSpPr>
        <p:spPr>
          <a:xfrm>
            <a:off x="731520" y="3931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Scattered Records</a:t>
            </a:r>
            <a:endParaRPr lang="en-US" sz="2200" dirty="0"/>
          </a:p>
        </p:txBody>
      </p:sp>
      <p:sp>
        <p:nvSpPr>
          <p:cNvPr id="8" name="Problem text 1"/>
          <p:cNvSpPr txBox="1"/>
          <p:nvPr/>
        </p:nvSpPr>
        <p:spPr>
          <a:xfrm>
            <a:off x="822960" y="448056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Data spread across files and sheets</a:t>
            </a:r>
            <a:endParaRPr lang="en-US" sz="1600" dirty="0"/>
          </a:p>
        </p:txBody>
      </p:sp>
      <p:sp>
        <p:nvSpPr>
          <p:cNvPr id="9" name="Problem card 2"/>
          <p:cNvSpPr/>
          <p:nvPr/>
        </p:nvSpPr>
        <p:spPr>
          <a:xfrm>
            <a:off x="4370832" y="2468880"/>
            <a:ext cx="344728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anual Errors circle"/>
          <p:cNvSpPr/>
          <p:nvPr/>
        </p:nvSpPr>
        <p:spPr>
          <a:xfrm>
            <a:off x="5678424" y="2834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Manual Erro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53" y="3065069"/>
            <a:ext cx="362102" cy="362102"/>
          </a:xfrm>
          <a:prstGeom prst="rect">
            <a:avLst/>
          </a:prstGeom>
        </p:spPr>
      </p:pic>
      <p:sp>
        <p:nvSpPr>
          <p:cNvPr id="12" name="Problem head 2"/>
          <p:cNvSpPr txBox="1"/>
          <p:nvPr/>
        </p:nvSpPr>
        <p:spPr>
          <a:xfrm>
            <a:off x="4553712" y="3931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Manual Errors</a:t>
            </a:r>
            <a:endParaRPr lang="en-US" sz="2200" dirty="0"/>
          </a:p>
        </p:txBody>
      </p:sp>
      <p:sp>
        <p:nvSpPr>
          <p:cNvPr id="13" name="Problem text 2"/>
          <p:cNvSpPr txBox="1"/>
          <p:nvPr/>
        </p:nvSpPr>
        <p:spPr>
          <a:xfrm>
            <a:off x="4645152" y="448056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Wrong balances and duplicate entries</a:t>
            </a:r>
            <a:endParaRPr lang="en-US" sz="1600" dirty="0"/>
          </a:p>
        </p:txBody>
      </p:sp>
      <p:sp>
        <p:nvSpPr>
          <p:cNvPr id="14" name="Problem card 3"/>
          <p:cNvSpPr/>
          <p:nvPr/>
        </p:nvSpPr>
        <p:spPr>
          <a:xfrm>
            <a:off x="8193024" y="2468880"/>
            <a:ext cx="344728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low Insights circle"/>
          <p:cNvSpPr/>
          <p:nvPr/>
        </p:nvSpPr>
        <p:spPr>
          <a:xfrm>
            <a:off x="9500616" y="28346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Slow Insigh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1045" y="3065069"/>
            <a:ext cx="362102" cy="362102"/>
          </a:xfrm>
          <a:prstGeom prst="rect">
            <a:avLst/>
          </a:prstGeom>
        </p:spPr>
      </p:pic>
      <p:sp>
        <p:nvSpPr>
          <p:cNvPr id="17" name="Problem head 3"/>
          <p:cNvSpPr txBox="1"/>
          <p:nvPr/>
        </p:nvSpPr>
        <p:spPr>
          <a:xfrm>
            <a:off x="8375904" y="393192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Slow Insights</a:t>
            </a:r>
            <a:endParaRPr lang="en-US" sz="2200" dirty="0"/>
          </a:p>
        </p:txBody>
      </p:sp>
      <p:sp>
        <p:nvSpPr>
          <p:cNvPr id="18" name="Problem text 3"/>
          <p:cNvSpPr txBox="1"/>
          <p:nvPr/>
        </p:nvSpPr>
        <p:spPr>
          <a:xfrm>
            <a:off x="8467344" y="448056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Hard to track branch and account activity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Project Outcome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548640" y="1554480"/>
            <a:ext cx="256946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"/>
          <p:cNvSpPr txBox="1"/>
          <p:nvPr/>
        </p:nvSpPr>
        <p:spPr>
          <a:xfrm>
            <a:off x="640080" y="1956816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640080" y="2801722"/>
            <a:ext cx="2386584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Tables</a:t>
            </a:r>
            <a:endParaRPr lang="en-US" sz="1500" dirty="0"/>
          </a:p>
        </p:txBody>
      </p:sp>
      <p:sp>
        <p:nvSpPr>
          <p:cNvPr id="6" name="Stat card"/>
          <p:cNvSpPr/>
          <p:nvPr/>
        </p:nvSpPr>
        <p:spPr>
          <a:xfrm>
            <a:off x="3364992" y="1554480"/>
            <a:ext cx="256946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3456432" y="1956816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8" name="Stat label"/>
          <p:cNvSpPr txBox="1"/>
          <p:nvPr/>
        </p:nvSpPr>
        <p:spPr>
          <a:xfrm>
            <a:off x="3456432" y="2801722"/>
            <a:ext cx="2386584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Customers</a:t>
            </a:r>
            <a:endParaRPr lang="en-US" sz="1500" dirty="0"/>
          </a:p>
        </p:txBody>
      </p:sp>
      <p:sp>
        <p:nvSpPr>
          <p:cNvPr id="9" name="Stat card"/>
          <p:cNvSpPr/>
          <p:nvPr/>
        </p:nvSpPr>
        <p:spPr>
          <a:xfrm>
            <a:off x="6181344" y="1554480"/>
            <a:ext cx="256946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"/>
          <p:cNvSpPr txBox="1"/>
          <p:nvPr/>
        </p:nvSpPr>
        <p:spPr>
          <a:xfrm>
            <a:off x="6272784" y="1956816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15</a:t>
            </a:r>
            <a:endParaRPr lang="en-US" sz="5400" dirty="0"/>
          </a:p>
        </p:txBody>
      </p:sp>
      <p:sp>
        <p:nvSpPr>
          <p:cNvPr id="11" name="Stat label"/>
          <p:cNvSpPr txBox="1"/>
          <p:nvPr/>
        </p:nvSpPr>
        <p:spPr>
          <a:xfrm>
            <a:off x="6272784" y="2801722"/>
            <a:ext cx="2386584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Accounts</a:t>
            </a:r>
            <a:endParaRPr lang="en-US" sz="1500" dirty="0"/>
          </a:p>
        </p:txBody>
      </p:sp>
      <p:sp>
        <p:nvSpPr>
          <p:cNvPr id="12" name="Stat card"/>
          <p:cNvSpPr/>
          <p:nvPr/>
        </p:nvSpPr>
        <p:spPr>
          <a:xfrm>
            <a:off x="8997696" y="1554480"/>
            <a:ext cx="256946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9089136" y="1956816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30</a:t>
            </a:r>
            <a:endParaRPr lang="en-US" sz="5400" dirty="0"/>
          </a:p>
        </p:txBody>
      </p:sp>
      <p:sp>
        <p:nvSpPr>
          <p:cNvPr id="14" name="Stat label"/>
          <p:cNvSpPr txBox="1"/>
          <p:nvPr/>
        </p:nvSpPr>
        <p:spPr>
          <a:xfrm>
            <a:off x="9089136" y="2801722"/>
            <a:ext cx="2386584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5" name="Structured, rule-based database circle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0" descr="Structured, rule-based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085539"/>
            <a:ext cx="241402" cy="241402"/>
          </a:xfrm>
          <a:prstGeom prst="rect">
            <a:avLst/>
          </a:prstGeom>
        </p:spPr>
      </p:pic>
      <p:sp>
        <p:nvSpPr>
          <p:cNvPr id="17" name="Outcome 1"/>
          <p:cNvSpPr txBox="1"/>
          <p:nvPr/>
        </p:nvSpPr>
        <p:spPr>
          <a:xfrm>
            <a:off x="1325880" y="3931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Structured, rule-based database</a:t>
            </a:r>
            <a:endParaRPr lang="en-US" sz="2000" dirty="0"/>
          </a:p>
        </p:txBody>
      </p:sp>
      <p:sp>
        <p:nvSpPr>
          <p:cNvPr id="18" name="34 SQL tasks: queries, view, procedures, triggers circle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1" descr="34 SQL tasks: queries, view, procedures, trigg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862779"/>
            <a:ext cx="241402" cy="241402"/>
          </a:xfrm>
          <a:prstGeom prst="rect">
            <a:avLst/>
          </a:prstGeom>
        </p:spPr>
      </p:pic>
      <p:sp>
        <p:nvSpPr>
          <p:cNvPr id="20" name="Outcome 2"/>
          <p:cNvSpPr txBox="1"/>
          <p:nvPr/>
        </p:nvSpPr>
        <p:spPr>
          <a:xfrm>
            <a:off x="1325880" y="4709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34 SQL tasks: queries, view, procedures, triggers</a:t>
            </a:r>
            <a:endParaRPr lang="en-US" sz="2000" dirty="0"/>
          </a:p>
        </p:txBody>
      </p:sp>
      <p:sp>
        <p:nvSpPr>
          <p:cNvPr id="21" name="Reliable balance and transaction tracking circle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Reliable balance and transaction track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640019"/>
            <a:ext cx="241402" cy="241402"/>
          </a:xfrm>
          <a:prstGeom prst="rect">
            <a:avLst/>
          </a:prstGeom>
        </p:spPr>
      </p:pic>
      <p:sp>
        <p:nvSpPr>
          <p:cNvPr id="23" name="Outcome 3"/>
          <p:cNvSpPr txBox="1"/>
          <p:nvPr/>
        </p:nvSpPr>
        <p:spPr>
          <a:xfrm>
            <a:off x="132588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Reliable balance and transaction tracking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Database Design</a:t>
            </a:r>
            <a:endParaRPr lang="en-US" sz="3600" dirty="0"/>
          </a:p>
        </p:txBody>
      </p:sp>
      <p:graphicFrame>
        <p:nvGraphicFramePr>
          <p:cNvPr id="5" name="Branch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2103120" cy="2286000"/>
        </p:xfrm>
        <a:graphic>
          <a:graphicData uri="http://schemas.openxmlformats.org/drawingml/2006/table">
            <a:tbl>
              <a:tblPr/>
              <a:tblGrid>
                <a:gridCol w="161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Branches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</a:rPr>
                        <a:t>branch_id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7D74"/>
                          </a:solidFill>
                        </a:rPr>
                        <a:t>PK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branch_name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location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ifsc_code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ustom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554480"/>
          <a:ext cx="2103120" cy="2743200"/>
        </p:xfrm>
        <a:graphic>
          <a:graphicData uri="http://schemas.openxmlformats.org/drawingml/2006/table">
            <a:tbl>
              <a:tblPr/>
              <a:tblGrid>
                <a:gridCol w="161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</a:rPr>
                        <a:t>customer_id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7D74"/>
                          </a:solidFill>
                        </a:rPr>
                        <a:t>PK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customer_name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phone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email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address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Account_Typ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554480"/>
          <a:ext cx="2103120" cy="1371600"/>
        </p:xfrm>
        <a:graphic>
          <a:graphicData uri="http://schemas.openxmlformats.org/drawingml/2006/table">
            <a:tbl>
              <a:tblPr/>
              <a:tblGrid>
                <a:gridCol w="161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Account_Types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</a:rPr>
                        <a:t>account_type_id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7D74"/>
                          </a:solidFill>
                        </a:rPr>
                        <a:t>PK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account_type_name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Accou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554480"/>
          <a:ext cx="2103120" cy="4114800"/>
        </p:xfrm>
        <a:graphic>
          <a:graphicData uri="http://schemas.openxmlformats.org/drawingml/2006/table">
            <a:tbl>
              <a:tblPr/>
              <a:tblGrid>
                <a:gridCol w="161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Accounts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</a:rPr>
                        <a:t>account_id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7D74"/>
                          </a:solidFill>
                        </a:rPr>
                        <a:t>PK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branch_id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5541F"/>
                          </a:solidFill>
                        </a:rPr>
                        <a:t>FK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customer_id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5541F"/>
                          </a:solidFill>
                        </a:rPr>
                        <a:t>FK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account_type_id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5541F"/>
                          </a:solidFill>
                        </a:rPr>
                        <a:t>FK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account_number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balance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opening_date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1" name="Transac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92640" y="1554480"/>
          <a:ext cx="2103120" cy="3200400"/>
        </p:xfrm>
        <a:graphic>
          <a:graphicData uri="http://schemas.openxmlformats.org/drawingml/2006/table">
            <a:tbl>
              <a:tblPr/>
              <a:tblGrid>
                <a:gridCol w="161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Transactions</a:t>
                      </a:r>
                      <a:endParaRPr lang="en-US" sz="15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</a:rPr>
                        <a:t>transaction_id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7D74"/>
                          </a:solidFill>
                        </a:rPr>
                        <a:t>PK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account_id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5541F"/>
                          </a:solidFill>
                        </a:rPr>
                        <a:t>FK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transaction_type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amount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transaction_date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Legend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7D74"/>
                </a:solidFill>
              </a:rPr>
              <a:t>PK</a:t>
            </a:r>
            <a:r>
              <a:rPr lang="en-US" sz="1400" dirty="0">
                <a:solidFill>
                  <a:schemeClr val="tx1"/>
                </a:solidFill>
              </a:rPr>
              <a:t> Primary Key      </a:t>
            </a:r>
            <a:r>
              <a:rPr lang="en-US" sz="1400" b="1" dirty="0">
                <a:solidFill>
                  <a:srgbClr val="B5541F"/>
                </a:solidFill>
              </a:rPr>
              <a:t>FK</a:t>
            </a:r>
            <a:r>
              <a:rPr lang="en-US" sz="1400" dirty="0">
                <a:solidFill>
                  <a:schemeClr val="tx1"/>
                </a:solidFill>
              </a:rPr>
              <a:t> Foreign Key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ER Diagram</a:t>
            </a:r>
            <a:endParaRPr lang="en-US" sz="3600" dirty="0"/>
          </a:p>
        </p:txBody>
      </p:sp>
      <p:pic>
        <p:nvPicPr>
          <p:cNvPr id="3" name="Image 0" descr="Entity relationship diagram of BankingD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3" y="1371600"/>
            <a:ext cx="993623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Integrity with Constraints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imary &amp; Foreign Keys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imary &amp; Foreign Ke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Primary &amp; Foreign Keys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Link every table reliably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ECK Rules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CHECK Ru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CHECK Rules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Balance ≥ 0, valid status and type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UNIQUE &amp; NOT NULL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UNIQUE &amp; NOT NU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UNIQUE &amp; NOT NULL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 duplicate account numbers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Accounts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account_id INT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account_number VARCHAR(20)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UNIQUE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balance DECIMAL(12,2) DEFAULT 0.00,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(branch_id)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REFERENCES Branches(branch_id),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(balance &gt;= 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Invalid data is rejected by the database itself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Joins: Connecting Tables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NER JOIN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NNER JO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INNER JOIN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Customers, accounts and types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FT JOIN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LEFT JO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LEFT JOIN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Keeps customers with no accounts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ranch Details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Branch Detai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Branch Details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Account number with branch and city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a.account_number,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at.account_type_name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Accounts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a.customer_id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Account_Types 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a.account_type_id = at.account_type_id;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readable view of customer, account and type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Aggregate Functions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548640" y="1554480"/>
            <a:ext cx="25694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"/>
          <p:cNvSpPr txBox="1"/>
          <p:nvPr/>
        </p:nvSpPr>
        <p:spPr>
          <a:xfrm>
            <a:off x="640080" y="1938528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₹10,57,000</a:t>
            </a:r>
            <a:endParaRPr lang="en-US" sz="3200" dirty="0"/>
          </a:p>
        </p:txBody>
      </p:sp>
      <p:sp>
        <p:nvSpPr>
          <p:cNvPr id="5" name="Stat label"/>
          <p:cNvSpPr txBox="1"/>
          <p:nvPr/>
        </p:nvSpPr>
        <p:spPr>
          <a:xfrm>
            <a:off x="640080" y="2745029"/>
            <a:ext cx="2386584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Total balance</a:t>
            </a:r>
            <a:endParaRPr lang="en-US" sz="1500" dirty="0"/>
          </a:p>
        </p:txBody>
      </p:sp>
      <p:sp>
        <p:nvSpPr>
          <p:cNvPr id="6" name="Stat card"/>
          <p:cNvSpPr/>
          <p:nvPr/>
        </p:nvSpPr>
        <p:spPr>
          <a:xfrm>
            <a:off x="3389681" y="1554480"/>
            <a:ext cx="25694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3481121" y="1938528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₹1,50,000</a:t>
            </a:r>
            <a:endParaRPr lang="en-US" sz="3200" dirty="0"/>
          </a:p>
        </p:txBody>
      </p:sp>
      <p:sp>
        <p:nvSpPr>
          <p:cNvPr id="8" name="Stat label"/>
          <p:cNvSpPr txBox="1"/>
          <p:nvPr/>
        </p:nvSpPr>
        <p:spPr>
          <a:xfrm>
            <a:off x="3481121" y="2745029"/>
            <a:ext cx="2386584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Highest balance</a:t>
            </a:r>
            <a:endParaRPr lang="en-US" sz="1500" dirty="0"/>
          </a:p>
        </p:txBody>
      </p:sp>
      <p:sp>
        <p:nvSpPr>
          <p:cNvPr id="9" name="Stat card"/>
          <p:cNvSpPr/>
          <p:nvPr/>
        </p:nvSpPr>
        <p:spPr>
          <a:xfrm>
            <a:off x="6230722" y="1554480"/>
            <a:ext cx="25694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"/>
          <p:cNvSpPr txBox="1"/>
          <p:nvPr/>
        </p:nvSpPr>
        <p:spPr>
          <a:xfrm>
            <a:off x="6322162" y="1938528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₹18,000</a:t>
            </a:r>
            <a:endParaRPr lang="en-US" sz="3200" dirty="0"/>
          </a:p>
        </p:txBody>
      </p:sp>
      <p:sp>
        <p:nvSpPr>
          <p:cNvPr id="11" name="Stat label"/>
          <p:cNvSpPr txBox="1"/>
          <p:nvPr/>
        </p:nvSpPr>
        <p:spPr>
          <a:xfrm>
            <a:off x="6322162" y="2745029"/>
            <a:ext cx="2386584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Lowest balance</a:t>
            </a:r>
            <a:endParaRPr lang="en-US" sz="1500" dirty="0"/>
          </a:p>
        </p:txBody>
      </p:sp>
      <p:sp>
        <p:nvSpPr>
          <p:cNvPr id="12" name="Stat card"/>
          <p:cNvSpPr/>
          <p:nvPr/>
        </p:nvSpPr>
        <p:spPr>
          <a:xfrm>
            <a:off x="9071762" y="1554480"/>
            <a:ext cx="256946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9163202" y="1938528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₹70,466.67</a:t>
            </a:r>
            <a:endParaRPr lang="en-US" sz="3200" dirty="0"/>
          </a:p>
        </p:txBody>
      </p:sp>
      <p:sp>
        <p:nvSpPr>
          <p:cNvPr id="14" name="Stat label"/>
          <p:cNvSpPr txBox="1"/>
          <p:nvPr/>
        </p:nvSpPr>
        <p:spPr>
          <a:xfrm>
            <a:off x="9163202" y="2745029"/>
            <a:ext cx="2386584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Average balance</a:t>
            </a:r>
            <a:endParaRPr lang="en-US" sz="1500" dirty="0"/>
          </a:p>
        </p:txBody>
      </p:sp>
      <p:sp>
        <p:nvSpPr>
          <p:cNvPr id="15" name="Code panel"/>
          <p:cNvSpPr/>
          <p:nvPr/>
        </p:nvSpPr>
        <p:spPr>
          <a:xfrm>
            <a:off x="548640" y="3840480"/>
            <a:ext cx="667512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822960" y="4297680"/>
            <a:ext cx="6217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SUM(balance) AS total_balance,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MAX(balance) AS highest_balance,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MIN(balance) AS lowest_balance,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ROUND(AVG(balance), 2) AS average_balance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Accounts;</a:t>
            </a:r>
            <a:endParaRPr lang="en-US" sz="1400" dirty="0"/>
          </a:p>
        </p:txBody>
      </p:sp>
      <p:sp>
        <p:nvSpPr>
          <p:cNvPr id="18" name="Deposit card"/>
          <p:cNvSpPr/>
          <p:nvPr/>
        </p:nvSpPr>
        <p:spPr>
          <a:xfrm>
            <a:off x="7498080" y="3840480"/>
            <a:ext cx="4142232" cy="2286000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Deposit head"/>
          <p:cNvSpPr txBox="1"/>
          <p:nvPr/>
        </p:nvSpPr>
        <p:spPr>
          <a:xfrm>
            <a:off x="7680960" y="402336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Deposits vs Withdrawals</a:t>
            </a:r>
            <a:endParaRPr lang="en-US" sz="1800" dirty="0"/>
          </a:p>
        </p:txBody>
      </p:sp>
      <p:sp>
        <p:nvSpPr>
          <p:cNvPr id="20" name="Deposit value"/>
          <p:cNvSpPr txBox="1"/>
          <p:nvPr/>
        </p:nvSpPr>
        <p:spPr>
          <a:xfrm>
            <a:off x="7680960" y="452628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</a:rPr>
              <a:t>₹2,35,000</a:t>
            </a:r>
            <a:endParaRPr lang="en-US" sz="4400" dirty="0"/>
          </a:p>
        </p:txBody>
      </p:sp>
      <p:sp>
        <p:nvSpPr>
          <p:cNvPr id="21" name="Deposit label"/>
          <p:cNvSpPr txBox="1"/>
          <p:nvPr/>
        </p:nvSpPr>
        <p:spPr>
          <a:xfrm>
            <a:off x="7680960" y="54406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each, using CASE WHEN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String Functions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AT()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ONCAT(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CONCAT()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Joins name and account number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UPPER()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UPPER(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UPPER()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Customer names in capital letters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liases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Alias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Aliases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Readable column headings with AS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CONCAT(c.customer_name, ' - 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a.account_number)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AS customer_account,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UPPER(c.customer_name)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AS customer_name_upper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Accounts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a.customer_id;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Output format: Aarav - 100000001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Date &amp; Time Functions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YEAR()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YEAR(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YEAR()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Extracts the year from a date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NTHNAME()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MONTHNAME(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MONTHNAME()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Turns month 7 into July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NTH()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MONTH(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MONTH()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Orders results by calendar month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YEAR(transaction_date) AS year,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MONTHNAME(transaction_date) AS month,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ROUND(SUM(amount), 2) AS monthly_total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YEAR(transaction_date),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MONTH(transaction_date),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MONTHNAME(transaction_date)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MONTH(transaction_date);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All 30 transactions fall in July 2025: ₹7,05,000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GROUP BY and HAVING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ROUP BY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GROUP B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GROUP BY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Customer count for every branch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UNT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COU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COUNT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Savings vs Current accounts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HAVING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HAV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HAVING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Customers with more than one account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COUNT(a.account_id) AS total_accounts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Accounts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c.customer_id = a.customer_id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c.customer_id, c.customer_name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COUNT(a.account_id) &gt; 1;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All 5 account holders own 2 or more accounts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Subqueries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ighest Balance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Highest Bal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Highest Balance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MAX() inside a WHERE clause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bove Average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Above Aver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Above Average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each balance with AVG()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 Transactions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No Transac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Transactions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NOT EXISTS finds idle customers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account_id,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account_number,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balance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Accounts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balance &gt;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AVG(balance)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Accounts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Highest balance: ₹1,50,000, held by Deepika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Monthly Transaction Summary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554480"/>
            <a:ext cx="612648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 label"/>
          <p:cNvSpPr txBox="1"/>
          <p:nvPr/>
        </p:nvSpPr>
        <p:spPr>
          <a:xfrm>
            <a:off x="8229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5" name="Code text"/>
          <p:cNvSpPr txBox="1"/>
          <p:nvPr/>
        </p:nvSpPr>
        <p:spPr>
          <a:xfrm>
            <a:off x="822960" y="2011680"/>
            <a:ext cx="56692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MONTHNAME(transaction_date) AS month,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txn_count,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SUM(CASE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WHEN transaction_type = 'Deposit'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THEN amount ELSE 0 END) AS deposits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MONTH(transaction_date),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MONTHNAME(transaction_date);</a:t>
            </a:r>
            <a:endParaRPr lang="en-US" sz="1400" dirty="0"/>
          </a:p>
        </p:txBody>
      </p:sp>
      <p:sp>
        <p:nvSpPr>
          <p:cNvPr id="6" name="Stat card"/>
          <p:cNvSpPr/>
          <p:nvPr/>
        </p:nvSpPr>
        <p:spPr>
          <a:xfrm>
            <a:off x="6976872" y="1554480"/>
            <a:ext cx="22860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7068312" y="19842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</a:t>
            </a:r>
            <a:endParaRPr lang="en-US" sz="3000" dirty="0"/>
          </a:p>
        </p:txBody>
      </p:sp>
      <p:sp>
        <p:nvSpPr>
          <p:cNvPr id="8" name="Stat label"/>
          <p:cNvSpPr txBox="1"/>
          <p:nvPr/>
        </p:nvSpPr>
        <p:spPr>
          <a:xfrm>
            <a:off x="7068312" y="2886761"/>
            <a:ext cx="210312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Transactions in July 2025</a:t>
            </a:r>
            <a:endParaRPr lang="en-US" sz="1500" dirty="0"/>
          </a:p>
        </p:txBody>
      </p:sp>
      <p:sp>
        <p:nvSpPr>
          <p:cNvPr id="9" name="Stat card"/>
          <p:cNvSpPr/>
          <p:nvPr/>
        </p:nvSpPr>
        <p:spPr>
          <a:xfrm>
            <a:off x="9354312" y="1554480"/>
            <a:ext cx="22860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"/>
          <p:cNvSpPr txBox="1"/>
          <p:nvPr/>
        </p:nvSpPr>
        <p:spPr>
          <a:xfrm>
            <a:off x="9445752" y="198424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₹2,35,000</a:t>
            </a:r>
            <a:endParaRPr lang="en-US" sz="3000" dirty="0"/>
          </a:p>
        </p:txBody>
      </p:sp>
      <p:sp>
        <p:nvSpPr>
          <p:cNvPr id="11" name="Stat label"/>
          <p:cNvSpPr txBox="1"/>
          <p:nvPr/>
        </p:nvSpPr>
        <p:spPr>
          <a:xfrm>
            <a:off x="9445752" y="2886761"/>
            <a:ext cx="210312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Deposits</a:t>
            </a:r>
            <a:endParaRPr lang="en-US" sz="1500" dirty="0"/>
          </a:p>
        </p:txBody>
      </p:sp>
      <p:sp>
        <p:nvSpPr>
          <p:cNvPr id="12" name="Stat card"/>
          <p:cNvSpPr/>
          <p:nvPr/>
        </p:nvSpPr>
        <p:spPr>
          <a:xfrm>
            <a:off x="6976872" y="3977640"/>
            <a:ext cx="22860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7068312" y="440740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₹2,35,000</a:t>
            </a:r>
            <a:endParaRPr lang="en-US" sz="3000" dirty="0"/>
          </a:p>
        </p:txBody>
      </p:sp>
      <p:sp>
        <p:nvSpPr>
          <p:cNvPr id="14" name="Stat label"/>
          <p:cNvSpPr txBox="1"/>
          <p:nvPr/>
        </p:nvSpPr>
        <p:spPr>
          <a:xfrm>
            <a:off x="7068312" y="5309921"/>
            <a:ext cx="210312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Withdrawals</a:t>
            </a:r>
            <a:endParaRPr lang="en-US" sz="1500" dirty="0"/>
          </a:p>
        </p:txBody>
      </p:sp>
      <p:sp>
        <p:nvSpPr>
          <p:cNvPr id="15" name="Stat card"/>
          <p:cNvSpPr/>
          <p:nvPr/>
        </p:nvSpPr>
        <p:spPr>
          <a:xfrm>
            <a:off x="9354312" y="3977640"/>
            <a:ext cx="22860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value"/>
          <p:cNvSpPr txBox="1"/>
          <p:nvPr/>
        </p:nvSpPr>
        <p:spPr>
          <a:xfrm>
            <a:off x="9445752" y="4407408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₹2,35,000</a:t>
            </a:r>
            <a:endParaRPr lang="en-US" sz="3000" dirty="0"/>
          </a:p>
        </p:txBody>
      </p:sp>
      <p:sp>
        <p:nvSpPr>
          <p:cNvPr id="17" name="Stat label"/>
          <p:cNvSpPr txBox="1"/>
          <p:nvPr/>
        </p:nvSpPr>
        <p:spPr>
          <a:xfrm>
            <a:off x="9445752" y="5309921"/>
            <a:ext cx="2103120" cy="60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Transfers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View: Active Account Details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irtual Table circle"/>
          <p:cNvSpPr/>
          <p:nvPr/>
        </p:nvSpPr>
        <p:spPr>
          <a:xfrm>
            <a:off x="777240" y="1901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Virtual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93976"/>
            <a:ext cx="301752" cy="301752"/>
          </a:xfrm>
          <a:prstGeom prst="rect">
            <a:avLst/>
          </a:prstGeom>
        </p:spPr>
      </p:pic>
      <p:sp>
        <p:nvSpPr>
          <p:cNvPr id="6" name="Point text 1"/>
          <p:cNvSpPr txBox="1"/>
          <p:nvPr/>
        </p:nvSpPr>
        <p:spPr>
          <a:xfrm>
            <a:off x="1691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Virtual Table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saved query, always up to date</a:t>
            </a:r>
            <a:endParaRPr lang="en-US" sz="2000" dirty="0"/>
          </a:p>
        </p:txBody>
      </p:sp>
      <p:sp>
        <p:nvSpPr>
          <p:cNvPr id="7" name="Point card 2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4 Tables Joined circle"/>
          <p:cNvSpPr/>
          <p:nvPr/>
        </p:nvSpPr>
        <p:spPr>
          <a:xfrm>
            <a:off x="777240" y="35021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4 Tables Join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94176"/>
            <a:ext cx="301752" cy="301752"/>
          </a:xfrm>
          <a:prstGeom prst="rect">
            <a:avLst/>
          </a:prstGeom>
        </p:spPr>
      </p:pic>
      <p:sp>
        <p:nvSpPr>
          <p:cNvPr id="10" name="Point text 2"/>
          <p:cNvSpPr txBox="1"/>
          <p:nvPr/>
        </p:nvSpPr>
        <p:spPr>
          <a:xfrm>
            <a:off x="16916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4 Tables Joined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Accounts, customers, types, branches</a:t>
            </a:r>
            <a:endParaRPr lang="en-US" sz="2000" dirty="0"/>
          </a:p>
        </p:txBody>
      </p:sp>
      <p:sp>
        <p:nvSpPr>
          <p:cNvPr id="11" name="Point card 3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tive Only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Active Onl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294376"/>
            <a:ext cx="301752" cy="301752"/>
          </a:xfrm>
          <a:prstGeom prst="rect">
            <a:avLst/>
          </a:prstGeom>
        </p:spPr>
      </p:pic>
      <p:sp>
        <p:nvSpPr>
          <p:cNvPr id="14" name="Point text 3"/>
          <p:cNvSpPr txBox="1"/>
          <p:nvPr/>
        </p:nvSpPr>
        <p:spPr>
          <a:xfrm>
            <a:off x="1691640" y="4937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Active Only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Inactive accounts stay hidden</a:t>
            </a:r>
            <a:endParaRPr lang="en-US" sz="2000" dirty="0"/>
          </a:p>
        </p:txBody>
      </p:sp>
      <p:sp>
        <p:nvSpPr>
          <p:cNvPr id="15" name="Code panel"/>
          <p:cNvSpPr/>
          <p:nvPr/>
        </p:nvSpPr>
        <p:spPr>
          <a:xfrm>
            <a:off x="5943600" y="155448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de label"/>
          <p:cNvSpPr txBox="1"/>
          <p:nvPr/>
        </p:nvSpPr>
        <p:spPr>
          <a:xfrm>
            <a:off x="62179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Code text"/>
          <p:cNvSpPr txBox="1"/>
          <p:nvPr/>
        </p:nvSpPr>
        <p:spPr>
          <a:xfrm>
            <a:off x="6217920" y="2011680"/>
            <a:ext cx="5239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VIEW Active_Account_Details 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a.account_number, c.customer_name,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at.account_type_name, a.balance,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b.branch_name, b.ifsc_code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Accounts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JOINs with Customers, Account_Types, Branches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a.status = 'Active';</a:t>
            </a:r>
            <a:endParaRPr lang="en-US" sz="1400" dirty="0"/>
          </a:p>
        </p:txBody>
      </p:sp>
      <p:sp>
        <p:nvSpPr>
          <p:cNvPr id="18" name="Result box"/>
          <p:cNvSpPr/>
          <p:nvPr/>
        </p:nvSpPr>
        <p:spPr>
          <a:xfrm>
            <a:off x="5943600" y="4937760"/>
            <a:ext cx="569671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Resu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349240"/>
            <a:ext cx="365760" cy="365760"/>
          </a:xfrm>
          <a:prstGeom prst="rect">
            <a:avLst/>
          </a:prstGeom>
        </p:spPr>
      </p:pic>
      <p:sp>
        <p:nvSpPr>
          <p:cNvPr id="20" name="Result text"/>
          <p:cNvSpPr txBox="1"/>
          <p:nvPr/>
        </p:nvSpPr>
        <p:spPr>
          <a:xfrm>
            <a:off x="685800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simple SELECT returns the full account report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Stored Procedure: Transfer_Money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463040"/>
            <a:ext cx="6492240" cy="4846320"/>
          </a:xfrm>
          <a:prstGeom prst="roundRect">
            <a:avLst>
              <a:gd name="adj" fmla="val 22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ode label"/>
          <p:cNvSpPr txBox="1"/>
          <p:nvPr/>
        </p:nvSpPr>
        <p:spPr>
          <a:xfrm>
            <a:off x="8229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  (key lines)</a:t>
            </a:r>
            <a:endParaRPr lang="en-US" sz="1100" dirty="0"/>
          </a:p>
        </p:txBody>
      </p:sp>
      <p:sp>
        <p:nvSpPr>
          <p:cNvPr id="5" name="Code text"/>
          <p:cNvSpPr txBox="1"/>
          <p:nvPr/>
        </p:nvSpPr>
        <p:spPr>
          <a:xfrm>
            <a:off x="822960" y="192024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Transfer_Money(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p_from_account INT, IN p_to_account INT,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p_amount DECIMAL(12,2))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v_from_balance DECIMAL(12,2);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EXIT HANDLER FOR SQLEXCEPTION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ROLLBACK; RESIGNAL; END;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p_from_account = p_to_account OR p_amount &lt;= 0 THEN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 SQLSTATE '45000'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MESSAGE_TEXT = 'Invalid transfer details';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TRANSACTION;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balance INTO v_from_balance FROM Accounts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account_id = p_from_account FOR UPDATE;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v_from_balance &lt; p_amount THEN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 SQLSTATE '45000'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MESSAGE_TEXT = 'Insufficient balance';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Accounts SET balance = balance - p_amount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account_id = p_from_account;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Accounts SET balance = balance + p_amount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account_id = p_to_account;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50" dirty="0"/>
          </a:p>
        </p:txBody>
      </p:sp>
      <p:sp>
        <p:nvSpPr>
          <p:cNvPr id="6" name="Step card 1"/>
          <p:cNvSpPr/>
          <p:nvPr/>
        </p:nvSpPr>
        <p:spPr>
          <a:xfrm>
            <a:off x="7269480" y="1463040"/>
            <a:ext cx="4370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Validates Input circle"/>
          <p:cNvSpPr/>
          <p:nvPr/>
        </p:nvSpPr>
        <p:spPr>
          <a:xfrm>
            <a:off x="7452360" y="17190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Validates In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979" y="1872691"/>
            <a:ext cx="241402" cy="241402"/>
          </a:xfrm>
          <a:prstGeom prst="rect">
            <a:avLst/>
          </a:prstGeom>
        </p:spPr>
      </p:pic>
      <p:sp>
        <p:nvSpPr>
          <p:cNvPr id="9" name="Step text 1"/>
          <p:cNvSpPr txBox="1"/>
          <p:nvPr/>
        </p:nvSpPr>
        <p:spPr>
          <a:xfrm>
            <a:off x="8183880" y="15544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Validates Input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Rejects same account or amount ≤ 0</a:t>
            </a:r>
            <a:endParaRPr lang="en-US" sz="1700" dirty="0"/>
          </a:p>
        </p:txBody>
      </p:sp>
      <p:sp>
        <p:nvSpPr>
          <p:cNvPr id="10" name="Step card 2"/>
          <p:cNvSpPr/>
          <p:nvPr/>
        </p:nvSpPr>
        <p:spPr>
          <a:xfrm>
            <a:off x="7269480" y="2697480"/>
            <a:ext cx="4370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ocks the Rows circle"/>
          <p:cNvSpPr/>
          <p:nvPr/>
        </p:nvSpPr>
        <p:spPr>
          <a:xfrm>
            <a:off x="7452360" y="295351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Locks the Row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979" y="3107131"/>
            <a:ext cx="241402" cy="241402"/>
          </a:xfrm>
          <a:prstGeom prst="rect">
            <a:avLst/>
          </a:prstGeom>
        </p:spPr>
      </p:pic>
      <p:sp>
        <p:nvSpPr>
          <p:cNvPr id="13" name="Step text 2"/>
          <p:cNvSpPr txBox="1"/>
          <p:nvPr/>
        </p:nvSpPr>
        <p:spPr>
          <a:xfrm>
            <a:off x="8183880" y="27889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Locks the Rows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UPDATE stops conflicting changes</a:t>
            </a:r>
            <a:endParaRPr lang="en-US" sz="1700" dirty="0"/>
          </a:p>
        </p:txBody>
      </p:sp>
      <p:sp>
        <p:nvSpPr>
          <p:cNvPr id="14" name="Step card 3"/>
          <p:cNvSpPr/>
          <p:nvPr/>
        </p:nvSpPr>
        <p:spPr>
          <a:xfrm>
            <a:off x="7269480" y="3931920"/>
            <a:ext cx="437083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ll or Nothing circle"/>
          <p:cNvSpPr/>
          <p:nvPr/>
        </p:nvSpPr>
        <p:spPr>
          <a:xfrm>
            <a:off x="7452360" y="41879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All or Noth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979" y="4341571"/>
            <a:ext cx="241402" cy="241402"/>
          </a:xfrm>
          <a:prstGeom prst="rect">
            <a:avLst/>
          </a:prstGeom>
        </p:spPr>
      </p:pic>
      <p:sp>
        <p:nvSpPr>
          <p:cNvPr id="17" name="Step text 3"/>
          <p:cNvSpPr txBox="1"/>
          <p:nvPr/>
        </p:nvSpPr>
        <p:spPr>
          <a:xfrm>
            <a:off x="8183880" y="40233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All or Nothing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COMMIT on success, ROLLBACK on error</a:t>
            </a:r>
            <a:endParaRPr lang="en-US" sz="1700" dirty="0"/>
          </a:p>
        </p:txBody>
      </p:sp>
      <p:sp>
        <p:nvSpPr>
          <p:cNvPr id="18" name="Usage box"/>
          <p:cNvSpPr/>
          <p:nvPr/>
        </p:nvSpPr>
        <p:spPr>
          <a:xfrm>
            <a:off x="7269480" y="5166360"/>
            <a:ext cx="4370832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Usage text"/>
          <p:cNvSpPr txBox="1"/>
          <p:nvPr/>
        </p:nvSpPr>
        <p:spPr>
          <a:xfrm>
            <a:off x="7452360" y="52120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Transfer_Money(101, 102, 10000.00);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Also: Get_Customer_Accounts(id), Get_Account_Transactions(id)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Triggers</a:t>
            </a:r>
            <a:endParaRPr lang="en-US" sz="3600" dirty="0"/>
          </a:p>
        </p:txBody>
      </p:sp>
      <p:sp>
        <p:nvSpPr>
          <p:cNvPr id="3" name="Trigger card 1"/>
          <p:cNvSpPr/>
          <p:nvPr/>
        </p:nvSpPr>
        <p:spPr>
          <a:xfrm>
            <a:off x="548640" y="1463040"/>
            <a:ext cx="54406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fter_Transaction_Insert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fter_Transaction_Inse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1825142"/>
            <a:ext cx="281635" cy="281635"/>
          </a:xfrm>
          <a:prstGeom prst="rect">
            <a:avLst/>
          </a:prstGeom>
        </p:spPr>
      </p:pic>
      <p:sp>
        <p:nvSpPr>
          <p:cNvPr id="6" name="Trigger head 1"/>
          <p:cNvSpPr txBox="1"/>
          <p:nvPr/>
        </p:nvSpPr>
        <p:spPr>
          <a:xfrm>
            <a:off x="1645920" y="1600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After_Transaction_Insert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AFTER INSERT on transactions</a:t>
            </a:r>
            <a:endParaRPr lang="en-US" sz="1800" dirty="0"/>
          </a:p>
        </p:txBody>
      </p:sp>
      <p:sp>
        <p:nvSpPr>
          <p:cNvPr id="7" name="Code panel"/>
          <p:cNvSpPr/>
          <p:nvPr/>
        </p:nvSpPr>
        <p:spPr>
          <a:xfrm>
            <a:off x="777240" y="2468880"/>
            <a:ext cx="498348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ode label"/>
          <p:cNvSpPr txBox="1"/>
          <p:nvPr/>
        </p:nvSpPr>
        <p:spPr>
          <a:xfrm>
            <a:off x="10515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9" name="Code text"/>
          <p:cNvSpPr txBox="1"/>
          <p:nvPr/>
        </p:nvSpPr>
        <p:spPr>
          <a:xfrm>
            <a:off x="1051560" y="2926080"/>
            <a:ext cx="4526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After_Transaction_Insert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transactions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Transaction_Log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transaction_id, account_id,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transaction_type, amount,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transaction_date)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NEW.transaction_id, NEW.account_id,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NEW.transaction_type, NEW.amount,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NEW.transaction_date);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10" name="Trigger result box 1"/>
          <p:cNvSpPr/>
          <p:nvPr/>
        </p:nvSpPr>
        <p:spPr>
          <a:xfrm>
            <a:off x="777240" y="5486400"/>
            <a:ext cx="49834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rigger result 1"/>
          <p:cNvSpPr txBox="1"/>
          <p:nvPr/>
        </p:nvSpPr>
        <p:spPr>
          <a:xfrm>
            <a:off x="960120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Every new transaction is logged automatically</a:t>
            </a:r>
            <a:endParaRPr lang="en-US" sz="1500" dirty="0"/>
          </a:p>
        </p:txBody>
      </p:sp>
      <p:sp>
        <p:nvSpPr>
          <p:cNvPr id="12" name="Trigger card 2"/>
          <p:cNvSpPr/>
          <p:nvPr/>
        </p:nvSpPr>
        <p:spPr>
          <a:xfrm>
            <a:off x="6199632" y="1463040"/>
            <a:ext cx="54406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efore_Account_Balance_Update circle"/>
          <p:cNvSpPr/>
          <p:nvPr/>
        </p:nvSpPr>
        <p:spPr>
          <a:xfrm>
            <a:off x="6473952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Before_Account_Balance_Upd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4" y="1825142"/>
            <a:ext cx="281635" cy="281635"/>
          </a:xfrm>
          <a:prstGeom prst="rect">
            <a:avLst/>
          </a:prstGeom>
        </p:spPr>
      </p:pic>
      <p:sp>
        <p:nvSpPr>
          <p:cNvPr id="15" name="Trigger head 2"/>
          <p:cNvSpPr txBox="1"/>
          <p:nvPr/>
        </p:nvSpPr>
        <p:spPr>
          <a:xfrm>
            <a:off x="7296912" y="1600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Before_Account_Balance_Update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BEFORE UPDATE on accounts</a:t>
            </a:r>
            <a:endParaRPr lang="en-US" sz="1800" dirty="0"/>
          </a:p>
        </p:txBody>
      </p:sp>
      <p:sp>
        <p:nvSpPr>
          <p:cNvPr id="16" name="Code panel"/>
          <p:cNvSpPr/>
          <p:nvPr/>
        </p:nvSpPr>
        <p:spPr>
          <a:xfrm>
            <a:off x="6428232" y="2468880"/>
            <a:ext cx="498348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Code label"/>
          <p:cNvSpPr txBox="1"/>
          <p:nvPr/>
        </p:nvSpPr>
        <p:spPr>
          <a:xfrm>
            <a:off x="6702552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SQL</a:t>
            </a:r>
            <a:endParaRPr lang="en-US" sz="1100" dirty="0"/>
          </a:p>
        </p:txBody>
      </p:sp>
      <p:sp>
        <p:nvSpPr>
          <p:cNvPr id="18" name="Code text"/>
          <p:cNvSpPr txBox="1"/>
          <p:nvPr/>
        </p:nvSpPr>
        <p:spPr>
          <a:xfrm>
            <a:off x="6702552" y="2926080"/>
            <a:ext cx="4526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Before_Account_Balance_Update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accounts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NEW.balance &lt; 0 THEN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 SQLSTATE '45000'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MESSAGE_TEXT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'Error: Account balance cannot be negative';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19" name="Trigger result box 2"/>
          <p:cNvSpPr/>
          <p:nvPr/>
        </p:nvSpPr>
        <p:spPr>
          <a:xfrm>
            <a:off x="6428232" y="5486400"/>
            <a:ext cx="49834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rigger result 2"/>
          <p:cNvSpPr txBox="1"/>
          <p:nvPr/>
        </p:nvSpPr>
        <p:spPr>
          <a:xfrm>
            <a:off x="6611112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Any update that makes a balance negative is blocked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8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2"/>
                </a:solidFill>
              </a:rPr>
              <a:t>Any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ingDB">
  <a:themeElements>
    <a:clrScheme name="BankingDB">
      <a:dk1>
        <a:srgbClr val="1A2433"/>
      </a:dk1>
      <a:lt1>
        <a:srgbClr val="FFFFFF"/>
      </a:lt1>
      <a:dk2>
        <a:srgbClr val="0F2A43"/>
      </a:dk2>
      <a:lt2>
        <a:srgbClr val="EEF3F7"/>
      </a:lt2>
      <a:accent1>
        <a:srgbClr val="147D74"/>
      </a:accent1>
      <a:accent2>
        <a:srgbClr val="F4A261"/>
      </a:accent2>
      <a:accent3>
        <a:srgbClr val="2E6F9E"/>
      </a:accent3>
      <a:accent4>
        <a:srgbClr val="E76F51"/>
      </a:accent4>
      <a:accent5>
        <a:srgbClr val="5B6877"/>
      </a:accent5>
      <a:accent6>
        <a:srgbClr val="8AB6D6"/>
      </a:accent6>
      <a:hlink>
        <a:srgbClr val="2E6F9E"/>
      </a:hlink>
      <a:folHlink>
        <a:srgbClr val="5B6877"/>
      </a:folHlink>
    </a:clrScheme>
    <a:fontScheme name="BankingD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1464</Words>
  <Application>Microsoft Office PowerPoint</Application>
  <PresentationFormat>Widescreen</PresentationFormat>
  <Paragraphs>323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BankingDB</vt:lpstr>
      <vt:lpstr>Banking Database Management System</vt:lpstr>
      <vt:lpstr>Problem Statement</vt:lpstr>
      <vt:lpstr>Project Outcome</vt:lpstr>
      <vt:lpstr>Database Design</vt:lpstr>
      <vt:lpstr>ER Diagram</vt:lpstr>
      <vt:lpstr>Data Integrity with Constraints</vt:lpstr>
      <vt:lpstr>Joins: Connecting Tables</vt:lpstr>
      <vt:lpstr>Aggregate Functions</vt:lpstr>
      <vt:lpstr>String Functions</vt:lpstr>
      <vt:lpstr>Date &amp; Time Functions</vt:lpstr>
      <vt:lpstr>GROUP BY and HAVING</vt:lpstr>
      <vt:lpstr>Subqueries</vt:lpstr>
      <vt:lpstr>Monthly Transaction Summary</vt:lpstr>
      <vt:lpstr>View: Active Account Details</vt:lpstr>
      <vt:lpstr>Stored Procedure: Transfer_Money</vt:lpstr>
      <vt:lpstr>Triggers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Database Management System</dc:title>
  <dc:subject>PptxGenJS Presentation</dc:subject>
  <dc:creator>PptxGenJS</dc:creator>
  <cp:lastModifiedBy>Pavan kalyan Chennam</cp:lastModifiedBy>
  <cp:revision>4</cp:revision>
  <dcterms:created xsi:type="dcterms:W3CDTF">2026-10-15T17:29:48Z</dcterms:created>
  <dcterms:modified xsi:type="dcterms:W3CDTF">2026-10-24T14:01:45Z</dcterms:modified>
</cp:coreProperties>
</file>